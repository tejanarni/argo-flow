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0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45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how we replace breakglass admin access with approved, audited Argo Workflows runbooks. The repo QR is here and on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Play the Loom recording (or click the card). It shows L1 submitting, L1 blocked from approving, L2 approving the deployment restart and L3 approving the StatefulSet restart.</a:t>
            </a:r>
          </a:p>
        </p:txBody>
      </p:sp>
    </p:spTree>
    <p:extLst>
      <p:ext uri="{BB962C8B-B14F-4D97-AF65-F5344CB8AC3E}">
        <p14:creationId xmlns:p14="http://schemas.microsoft.com/office/powerpoint/2010/main" val="1688059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b94e09cd525647ab9be06a5fd5d2426b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janarni/argo-flo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26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Breakglass to Runbooks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Runbook Automation with Argo Workflows for secure Kubernetes operations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 Narni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Cloud Engineer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12280" y="2651760"/>
            <a:ext cx="1737360" cy="2011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761488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12280" y="4279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the repo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93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breakglass access hurts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7276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admin, no audit trail, no approvals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476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Workflows: introduction &amp; architecture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3113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it differs from Argo CD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060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operational runbooks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8950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collection, patching and restart workflows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644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approval-based remediation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5478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/ L3 tiers, suspend-and-resume gates, audit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227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CronWorkflows &amp; enterprise best practices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0624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operations and how to roll this out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breakglass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 a.m. the fastest fix is usually cluster-admin and kubectl. That's the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18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privilege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hold broad admin rights just in case an incident happens.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618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audit trail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kubectl commands leave little record of who changed what, or why.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91840"/>
            <a:ext cx="548640" cy="54864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290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gate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changes go straight to production with no second pair of eyes.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918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29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 fixes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engineer runs the steps differently, from memory or a stale wiki.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Argo Workflows?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CNCF-graduated, Kubernetes-native workflow engine. Every step runs as a container, and every workflow is a Kubernetes custom resource.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&amp; DAGs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or dependency-driven multi-step flows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WorkflowTemplates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versioned, parameterised runbooks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/ resume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pause points for human approval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ServiceAccounts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template runs with exactly the rights it needs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32918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CronWorkflows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operations on a cron expression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2918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1C2B44"/>
          </a:solidFill>
          <a:ln w="12700">
            <a:solidFill>
              <a:srgbClr val="1C2B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CLI &amp; API + SSO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 operators, with OIDC login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 CD vs Argo Workflows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tools: one keeps state in sync, the other gets work done.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 CD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“Deploy it”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application state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applications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clusters in sync with Git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delivery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 Workflows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it”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1488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business &amp; platform processes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runbooks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multi-step actions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execution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demo, Argo CD deploys the Argo Workflows platform, RBAC and runbooks via GitOps.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runbook automation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wiki page into a workflow anyone can run safely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collection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67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infrastructure logs, pod status snapshots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600200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714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patching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67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patch activities with pre- and post-checks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600200"/>
            <a:ext cx="457200" cy="4572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7145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6656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workflows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671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app restarts, scaling, stuck-pod cleanup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/ L3 RBAC flows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673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tier gets only the runbooks it's entitled to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4612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200400"/>
            <a:ext cx="457200" cy="45720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33147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7764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Approval-based remediation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7673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actions wait for an authorised approver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2220" y="331470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6656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operations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673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hygiene tasks via CronWorkflows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runbook catalogue, by tier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WorkflowTemplates from the demo repo; each pins its own ServiceAccount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no approval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get-app-logs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get-pod-status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runbook-l1-runner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5448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· L2 approves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restart-deployment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scale-deployment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runbook-l2-runner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5448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554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· L3 approves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945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restart-statefulset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cleanup-stuck-pods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provision-namespace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run-command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runbook-l3-runner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= who resumes the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Kubernetes RBAC, not by a workflow parameter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566928" cy="566928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746504"/>
            <a:ext cx="100584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submits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from a WorkflowTemplate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6896" y="1463040"/>
            <a:ext cx="566928" cy="566928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96896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36976" y="1746504"/>
            <a:ext cx="100584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139696" y="214884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Precheck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246888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as the L1 runner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9392" y="1463040"/>
            <a:ext cx="566928" cy="566928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79392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19472" y="1746504"/>
            <a:ext cx="100584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822192" y="214884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246888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tries to resume: 403 Forbidden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61888" y="1463040"/>
            <a:ext cx="566928" cy="566928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61888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601968" y="1746504"/>
            <a:ext cx="1005840" cy="0"/>
          </a:xfrm>
          <a:prstGeom prst="line">
            <a:avLst/>
          </a:prstGeom>
          <a:noFill/>
          <a:ln w="19050">
            <a:solidFill>
              <a:srgbClr val="AAB6C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504688" y="214884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resumes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04688" y="246888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resume = PATCH on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44384" y="1463040"/>
            <a:ext cx="566928" cy="566928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44384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87184" y="214884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verify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87184" y="246888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as the L2 runner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separate approval API.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is the resume itself, and RBAC decides who may resume. The audit log shows the runner ServiceAccount made the change, not the human.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4A96C-1799-F2BD-D142-4E5110CC201B}"/>
              </a:ext>
            </a:extLst>
          </p:cNvPr>
          <p:cNvSpPr txBox="1"/>
          <p:nvPr/>
        </p:nvSpPr>
        <p:spPr>
          <a:xfrm>
            <a:off x="457200" y="396240"/>
            <a:ext cx="8229600" cy="5486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F1B2D"/>
                </a:solidFill>
                <a:latin typeface="Arial" panose="020B0604020202020204" pitchFamily="34" charset="0"/>
              </a:rPr>
              <a:t>Demo: L1, L2 and L3 approval 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CDC88-885D-F18A-A937-66CA89E39FCB}"/>
              </a:ext>
            </a:extLst>
          </p:cNvPr>
          <p:cNvSpPr txBox="1"/>
          <p:nvPr/>
        </p:nvSpPr>
        <p:spPr>
          <a:xfrm>
            <a:off x="457200" y="944880"/>
            <a:ext cx="8229600" cy="3200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B6678"/>
                </a:solidFill>
                <a:latin typeface="Calibri" panose="020F0502020204030204" pitchFamily="34" charset="0"/>
              </a:rPr>
              <a:t>Recorded walkthrough on the live lab cluster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D44093-A1F9-A64D-1813-E961972D1AD2}"/>
              </a:ext>
            </a:extLst>
          </p:cNvPr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0F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0353F-B2FD-B135-1676-0EE862B47075}"/>
              </a:ext>
            </a:extLst>
          </p:cNvPr>
          <p:cNvSpPr txBox="1"/>
          <p:nvPr/>
        </p:nvSpPr>
        <p:spPr>
          <a:xfrm>
            <a:off x="1005840" y="1389888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F1B2D"/>
                </a:solidFill>
                <a:latin typeface="Calibri" panose="020F0502020204030204" pitchFamily="34" charset="0"/>
              </a:rPr>
              <a:t>L1 submits the runbooks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9D6D4-4374-A035-5DC1-F62F48691F4A}"/>
              </a:ext>
            </a:extLst>
          </p:cNvPr>
          <p:cNvSpPr txBox="1"/>
          <p:nvPr/>
        </p:nvSpPr>
        <p:spPr>
          <a:xfrm>
            <a:off x="1005840" y="1664208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678"/>
                </a:solidFill>
                <a:latin typeface="Calibri" panose="020F0502020204030204" pitchFamily="34" charset="0"/>
              </a:rPr>
              <a:t>Restart requests from the Argo UI, signed in as L1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3E79D9-757F-7E7D-199C-6BB5040C1D79}"/>
              </a:ext>
            </a:extLst>
          </p:cNvPr>
          <p:cNvSpPr/>
          <p:nvPr/>
        </p:nvSpPr>
        <p:spPr>
          <a:xfrm>
            <a:off x="457200" y="2167128"/>
            <a:ext cx="411480" cy="411480"/>
          </a:xfrm>
          <a:prstGeom prst="ellipse">
            <a:avLst/>
          </a:prstGeom>
          <a:solidFill>
            <a:srgbClr val="EF7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368464-AD72-0906-5317-BD586C134EE3}"/>
              </a:ext>
            </a:extLst>
          </p:cNvPr>
          <p:cNvSpPr txBox="1"/>
          <p:nvPr/>
        </p:nvSpPr>
        <p:spPr>
          <a:xfrm>
            <a:off x="1005840" y="2139696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F1B2D"/>
                </a:solidFill>
                <a:latin typeface="Calibri" panose="020F0502020204030204" pitchFamily="34" charset="0"/>
              </a:rPr>
              <a:t>L1 tries to approve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BD637-34A9-9307-30CC-B773B2A5FD01}"/>
              </a:ext>
            </a:extLst>
          </p:cNvPr>
          <p:cNvSpPr txBox="1"/>
          <p:nvPr/>
        </p:nvSpPr>
        <p:spPr>
          <a:xfrm>
            <a:off x="1005840" y="2414016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678"/>
                </a:solidFill>
                <a:latin typeface="Calibri" panose="020F0502020204030204" pitchFamily="34" charset="0"/>
              </a:rPr>
              <a:t>Resume is rejected: 403 Forbidden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1BC561-586D-51ED-5F2B-58A410ECB47A}"/>
              </a:ext>
            </a:extLst>
          </p:cNvPr>
          <p:cNvSpPr/>
          <p:nvPr/>
        </p:nvSpPr>
        <p:spPr>
          <a:xfrm>
            <a:off x="457200" y="2916936"/>
            <a:ext cx="411480" cy="411480"/>
          </a:xfrm>
          <a:prstGeom prst="ellipse">
            <a:avLst/>
          </a:prstGeom>
          <a:solidFill>
            <a:srgbClr val="0F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67D262-5F61-C0C9-4FCC-DB5585175327}"/>
              </a:ext>
            </a:extLst>
          </p:cNvPr>
          <p:cNvSpPr txBox="1"/>
          <p:nvPr/>
        </p:nvSpPr>
        <p:spPr>
          <a:xfrm>
            <a:off x="1005840" y="2889504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F1B2D"/>
                </a:solidFill>
                <a:latin typeface="Calibri" panose="020F0502020204030204" pitchFamily="34" charset="0"/>
              </a:rPr>
              <a:t>L2 approves the Deployment restart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30F36-BC46-4B10-969D-E3160D148651}"/>
              </a:ext>
            </a:extLst>
          </p:cNvPr>
          <p:cNvSpPr txBox="1"/>
          <p:nvPr/>
        </p:nvSpPr>
        <p:spPr>
          <a:xfrm>
            <a:off x="1005840" y="3163824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678"/>
                </a:solidFill>
                <a:latin typeface="Calibri" panose="020F0502020204030204" pitchFamily="34" charset="0"/>
              </a:rPr>
              <a:t>Restart and verify run as the L2 runner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C9A97F-E741-FA66-E769-BA3C04A40078}"/>
              </a:ext>
            </a:extLst>
          </p:cNvPr>
          <p:cNvSpPr/>
          <p:nvPr/>
        </p:nvSpPr>
        <p:spPr>
          <a:xfrm>
            <a:off x="457200" y="3666744"/>
            <a:ext cx="411480" cy="411480"/>
          </a:xfrm>
          <a:prstGeom prst="ellipse">
            <a:avLst/>
          </a:prstGeom>
          <a:solidFill>
            <a:srgbClr val="0F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E815AB-E5F8-57D2-C0EE-FD5462B80FDD}"/>
              </a:ext>
            </a:extLst>
          </p:cNvPr>
          <p:cNvSpPr txBox="1"/>
          <p:nvPr/>
        </p:nvSpPr>
        <p:spPr>
          <a:xfrm>
            <a:off x="1005840" y="3639312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F1B2D"/>
                </a:solidFill>
                <a:latin typeface="Calibri" panose="020F0502020204030204" pitchFamily="34" charset="0"/>
              </a:rPr>
              <a:t>L3 approves the StatefulSet restart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0D3EE7-60D8-E3DC-9C55-4AC602911237}"/>
              </a:ext>
            </a:extLst>
          </p:cNvPr>
          <p:cNvSpPr txBox="1"/>
          <p:nvPr/>
        </p:nvSpPr>
        <p:spPr>
          <a:xfrm>
            <a:off x="1005840" y="3913632"/>
            <a:ext cx="32004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B6678"/>
                </a:solidFill>
                <a:latin typeface="Calibri" panose="020F0502020204030204" pitchFamily="34" charset="0"/>
              </a:rPr>
              <a:t>Privileged runbook, L3 sign-off only</a:t>
            </a:r>
          </a:p>
        </p:txBody>
      </p:sp>
      <p:sp>
        <p:nvSpPr>
          <p:cNvPr id="16" name="Rectangle: Rounded Corners 15">
            <a:hlinkClick r:id="rId3"/>
            <a:extLst>
              <a:ext uri="{FF2B5EF4-FFF2-40B4-BE49-F238E27FC236}">
                <a16:creationId xmlns:a16="http://schemas.microsoft.com/office/drawing/2014/main" id="{021497BF-6CC2-0479-F0DC-29019056AD30}"/>
              </a:ext>
            </a:extLst>
          </p:cNvPr>
          <p:cNvSpPr/>
          <p:nvPr/>
        </p:nvSpPr>
        <p:spPr>
          <a:xfrm>
            <a:off x="4572000" y="1325880"/>
            <a:ext cx="4114800" cy="3200400"/>
          </a:xfrm>
          <a:prstGeom prst="roundRect">
            <a:avLst>
              <a:gd name="adj" fmla="val 5000"/>
            </a:avLst>
          </a:prstGeom>
          <a:solidFill>
            <a:srgbClr val="0F1B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hlinkClick r:id="rId3"/>
            <a:extLst>
              <a:ext uri="{FF2B5EF4-FFF2-40B4-BE49-F238E27FC236}">
                <a16:creationId xmlns:a16="http://schemas.microsoft.com/office/drawing/2014/main" id="{BA3CF0CF-37A9-411D-DC28-36B087CEF6EB}"/>
              </a:ext>
            </a:extLst>
          </p:cNvPr>
          <p:cNvSpPr/>
          <p:nvPr/>
        </p:nvSpPr>
        <p:spPr>
          <a:xfrm>
            <a:off x="4892040" y="1645920"/>
            <a:ext cx="914400" cy="914400"/>
          </a:xfrm>
          <a:prstGeom prst="ellipse">
            <a:avLst/>
          </a:prstGeom>
          <a:solidFill>
            <a:srgbClr val="EF7B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hlinkClick r:id="rId3"/>
            <a:extLst>
              <a:ext uri="{FF2B5EF4-FFF2-40B4-BE49-F238E27FC236}">
                <a16:creationId xmlns:a16="http://schemas.microsoft.com/office/drawing/2014/main" id="{AA03C044-8929-571B-3846-0CF30BB9E8EA}"/>
              </a:ext>
            </a:extLst>
          </p:cNvPr>
          <p:cNvSpPr/>
          <p:nvPr/>
        </p:nvSpPr>
        <p:spPr>
          <a:xfrm rot="5400000">
            <a:off x="5193792" y="1920240"/>
            <a:ext cx="365760" cy="365760"/>
          </a:xfrm>
          <a:prstGeom prst="triangl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hlinkClick r:id="rId3"/>
            <a:extLst>
              <a:ext uri="{FF2B5EF4-FFF2-40B4-BE49-F238E27FC236}">
                <a16:creationId xmlns:a16="http://schemas.microsoft.com/office/drawing/2014/main" id="{F60264E6-DC82-2BD3-4EB8-D1784BDB5DFA}"/>
              </a:ext>
            </a:extLst>
          </p:cNvPr>
          <p:cNvSpPr txBox="1"/>
          <p:nvPr/>
        </p:nvSpPr>
        <p:spPr>
          <a:xfrm>
            <a:off x="4892040" y="2743200"/>
            <a:ext cx="210312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Watch the demo</a:t>
            </a:r>
          </a:p>
        </p:txBody>
      </p:sp>
      <p:sp>
        <p:nvSpPr>
          <p:cNvPr id="20" name="TextBox 19">
            <a:hlinkClick r:id="rId3"/>
            <a:extLst>
              <a:ext uri="{FF2B5EF4-FFF2-40B4-BE49-F238E27FC236}">
                <a16:creationId xmlns:a16="http://schemas.microsoft.com/office/drawing/2014/main" id="{C2F5D80E-EBF6-7625-6F7F-A68243F60F54}"/>
              </a:ext>
            </a:extLst>
          </p:cNvPr>
          <p:cNvSpPr txBox="1"/>
          <p:nvPr/>
        </p:nvSpPr>
        <p:spPr>
          <a:xfrm>
            <a:off x="4892040" y="3127248"/>
            <a:ext cx="210312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AAB6C8"/>
                </a:solidFill>
                <a:latin typeface="Calibri" panose="020F0502020204030204" pitchFamily="34" charset="0"/>
              </a:rPr>
              <a:t>Recorded on Loom. Click anywhere on this card to open it.</a:t>
            </a:r>
          </a:p>
        </p:txBody>
      </p:sp>
      <p:sp>
        <p:nvSpPr>
          <p:cNvPr id="21" name="Rectangle: Rounded Corners 20">
            <a:hlinkClick r:id="rId3"/>
            <a:extLst>
              <a:ext uri="{FF2B5EF4-FFF2-40B4-BE49-F238E27FC236}">
                <a16:creationId xmlns:a16="http://schemas.microsoft.com/office/drawing/2014/main" id="{AB1B86E8-4791-6CB6-6E20-7281D07F65F5}"/>
              </a:ext>
            </a:extLst>
          </p:cNvPr>
          <p:cNvSpPr/>
          <p:nvPr/>
        </p:nvSpPr>
        <p:spPr>
          <a:xfrm>
            <a:off x="7086600" y="1645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hlinkClick r:id="rId3"/>
            <a:extLst>
              <a:ext uri="{FF2B5EF4-FFF2-40B4-BE49-F238E27FC236}">
                <a16:creationId xmlns:a16="http://schemas.microsoft.com/office/drawing/2014/main" id="{A264EB9F-580C-1AB9-6460-6D51A39BBFC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37360"/>
            <a:ext cx="1188720" cy="11887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D3EF3FC-1523-3EE6-1CC1-440B403800B4}"/>
              </a:ext>
            </a:extLst>
          </p:cNvPr>
          <p:cNvSpPr txBox="1"/>
          <p:nvPr/>
        </p:nvSpPr>
        <p:spPr>
          <a:xfrm>
            <a:off x="7086600" y="3127248"/>
            <a:ext cx="137160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>
                <a:solidFill>
                  <a:srgbClr val="AAB6C8"/>
                </a:solidFill>
                <a:latin typeface="Calibri" panose="020F0502020204030204" pitchFamily="34" charset="0"/>
              </a:rPr>
              <a:t>Scan to watch</a:t>
            </a:r>
          </a:p>
        </p:txBody>
      </p:sp>
      <p:sp>
        <p:nvSpPr>
          <p:cNvPr id="25" name="TextBox 24">
            <a:hlinkClick r:id="rId3"/>
            <a:extLst>
              <a:ext uri="{FF2B5EF4-FFF2-40B4-BE49-F238E27FC236}">
                <a16:creationId xmlns:a16="http://schemas.microsoft.com/office/drawing/2014/main" id="{2EF976E8-636E-E7FF-2E4E-3FEE137B4651}"/>
              </a:ext>
            </a:extLst>
          </p:cNvPr>
          <p:cNvSpPr txBox="1"/>
          <p:nvPr/>
        </p:nvSpPr>
        <p:spPr>
          <a:xfrm>
            <a:off x="4892040" y="4023360"/>
            <a:ext cx="3566160" cy="2743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u="sng">
                <a:solidFill>
                  <a:srgbClr val="FFFFFF"/>
                </a:solidFill>
                <a:latin typeface="Calibri" panose="020F0502020204030204" pitchFamily="34" charset="0"/>
              </a:rPr>
              <a:t>loom.com/share/b94e09cd525647ab9be06a5fd5d2426b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45720C-53FB-8960-FD69-1E6674E158A7}"/>
              </a:ext>
            </a:extLst>
          </p:cNvPr>
          <p:cNvSpPr txBox="1"/>
          <p:nvPr/>
        </p:nvSpPr>
        <p:spPr>
          <a:xfrm>
            <a:off x="457200" y="48310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B6678"/>
                </a:solidFill>
                <a:latin typeface="Calibri" panose="020F0502020204030204" pitchFamily="34" charset="0"/>
              </a:rPr>
              <a:t>Cloud Native Hyderabad  ·  From Breakglass to Runbooks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F2B311-76B2-135A-78A9-B003BCD9334D}"/>
              </a:ext>
            </a:extLst>
          </p:cNvPr>
          <p:cNvSpPr txBox="1"/>
          <p:nvPr/>
        </p:nvSpPr>
        <p:spPr>
          <a:xfrm>
            <a:off x="8138160" y="4831080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00">
                <a:solidFill>
                  <a:srgbClr val="5B6678"/>
                </a:solidFill>
                <a:latin typeface="Calibri" panose="020F050202020403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96166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operations with CronWorkflows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templates, same RBAC, triggered by the clock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log collection &amp; cleanup of stuck pods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patch windows with pre- and post-checks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health and compliance reports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concurrencyPolicy and timezone keep runs predictable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0" y="1325880"/>
            <a:ext cx="4114800" cy="2697480"/>
          </a:xfrm>
          <a:prstGeom prst="roundRect">
            <a:avLst>
              <a:gd name="adj" fmla="val 271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46304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argoproj.io/v1alpha1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CronWorkflow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nightly-stuck-pod-cleanup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 "0 2 * * *"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timezone: "Asia/Kolkata"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concurrencyPolicy: Forbid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workflowSpec: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workflowTemplateRef: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l3-cleanup-stuck-pods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&amp; 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procedures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527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reviewed template per task, stored in Git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234440"/>
            <a:ext cx="548640" cy="54864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effort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527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 L1; fewer escalations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14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&amp; governance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RBAC-enforced, tiered approvals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63440" y="2377440"/>
            <a:ext cx="548640" cy="54864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5146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audit + Argo Server logs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5760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 on namespace + workload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63440" y="3520440"/>
            <a:ext cx="548640" cy="548640"/>
          </a:xfrm>
          <a:prstGeom prst="ellipse">
            <a:avLst/>
          </a:prstGeom>
          <a:solidFill>
            <a:srgbClr val="EF7B4D"/>
          </a:solidFill>
          <a:ln w="12700">
            <a:solidFill>
              <a:srgbClr val="EF7B4D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5760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everywhere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813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ITSM and CI/CD platforms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From Breakglass to Runbooks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813816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a local k3d lab with L1/L2/L3 runbooks, approval gates, escalation tests and the audit view, all deployed via Argo CD.</a:t>
            </a:r>
            <a:endParaRPr lang="en-US" sz="1400" dirty="0"/>
          </a:p>
        </p:txBody>
      </p:sp>
      <p:sp>
        <p:nvSpPr>
          <p:cNvPr id="5" name="Text 3">
            <a:hlinkClick r:id="rId3"/>
          </p:cNvPr>
          <p:cNvSpPr txBox="1"/>
          <p:nvPr/>
        </p:nvSpPr>
        <p:spPr>
          <a:xfrm>
            <a:off x="5486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github.com/Tejanarni/argo-flow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 Narni  ·  DevOps &amp; Cloud Engineer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82296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960120"/>
            <a:ext cx="2286000" cy="2286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0350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the repo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Hyderabad  ·  26 September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1039</Words>
  <Application>Microsoft Office PowerPoint</Application>
  <PresentationFormat>On-screen Show (16:9)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Breakglass to Runbooks</dc:title>
  <dc:subject>PptxGenJS Presentation</dc:subject>
  <dc:creator>Teja Narni</dc:creator>
  <cp:lastModifiedBy>TEJA NARNI</cp:lastModifiedBy>
  <cp:revision>4</cp:revision>
  <dcterms:created xsi:type="dcterms:W3CDTF">2026-09-23T08:53:09Z</dcterms:created>
  <dcterms:modified xsi:type="dcterms:W3CDTF">2026-09-25T11:23:32Z</dcterms:modified>
</cp:coreProperties>
</file>